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60" r:id="rId4"/>
    <p:sldId id="259" r:id="rId5"/>
    <p:sldId id="272" r:id="rId6"/>
    <p:sldId id="261" r:id="rId7"/>
    <p:sldId id="262" r:id="rId8"/>
    <p:sldId id="263" r:id="rId9"/>
    <p:sldId id="270" r:id="rId10"/>
    <p:sldId id="264" r:id="rId11"/>
    <p:sldId id="268" r:id="rId12"/>
    <p:sldId id="269" r:id="rId13"/>
    <p:sldId id="265" r:id="rId14"/>
    <p:sldId id="266" r:id="rId15"/>
    <p:sldId id="267" r:id="rId16"/>
  </p:sldIdLst>
  <p:sldSz cx="10972800" cy="7315200"/>
  <p:notesSz cx="6858000" cy="9144000"/>
  <p:defaultTextStyle>
    <a:defPPr>
      <a:defRPr lang="en-US"/>
    </a:defPPr>
    <a:lvl1pPr marL="0" algn="l" defTabSz="104492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2462" algn="l" defTabSz="104492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44924" algn="l" defTabSz="104492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67386" algn="l" defTabSz="104492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089849" algn="l" defTabSz="104492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12311" algn="l" defTabSz="104492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34772" algn="l" defTabSz="104492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57234" algn="l" defTabSz="104492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179696" algn="l" defTabSz="104492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04">
          <p15:clr>
            <a:srgbClr val="A4A3A4"/>
          </p15:clr>
        </p15:guide>
        <p15:guide id="2" pos="345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960" autoAdjust="0"/>
    <p:restoredTop sz="95280" autoAdjust="0"/>
  </p:normalViewPr>
  <p:slideViewPr>
    <p:cSldViewPr>
      <p:cViewPr>
        <p:scale>
          <a:sx n="67" d="100"/>
          <a:sy n="67" d="100"/>
        </p:scale>
        <p:origin x="172" y="32"/>
      </p:cViewPr>
      <p:guideLst>
        <p:guide orient="horz" pos="2304"/>
        <p:guide pos="345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9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1048651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571402-181B-4778-88A2-CE98ADA254E1}" type="datetimeFigureOut">
              <a:rPr lang="en-US" smtClean="0"/>
              <a:t>11/11/2025</a:t>
            </a:fld>
            <a:endParaRPr lang="en-US" dirty="0"/>
          </a:p>
        </p:txBody>
      </p:sp>
      <p:sp>
        <p:nvSpPr>
          <p:cNvPr id="1048652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685800"/>
            <a:ext cx="51435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48653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4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1048655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927F71-13B9-4F8B-A7FA-06F36091B277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044924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522462" algn="l" defTabSz="1044924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1044924" algn="l" defTabSz="1044924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567386" algn="l" defTabSz="1044924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2089849" algn="l" defTabSz="1044924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612311" algn="l" defTabSz="1044924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134772" algn="l" defTabSz="1044924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657234" algn="l" defTabSz="1044924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179696" algn="l" defTabSz="1044924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27F71-13B9-4F8B-A7FA-06F36091B27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3121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822960" y="2272455"/>
            <a:ext cx="9326880" cy="156802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645920" y="4145280"/>
            <a:ext cx="7680960" cy="18694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24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44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673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898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123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34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572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1796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D6C99-5CFE-45D6-8072-37C1C432357D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Project Title Goes here</a:t>
            </a:r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9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9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EB6AD-1CD7-486E-83D6-A6955BE11373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104859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Project Title Goes here</a:t>
            </a:r>
          </a:p>
        </p:txBody>
      </p:sp>
      <p:sp>
        <p:nvSpPr>
          <p:cNvPr id="104859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Title 1"/>
          <p:cNvSpPr>
            <a:spLocks noGrp="1"/>
          </p:cNvSpPr>
          <p:nvPr>
            <p:ph type="title"/>
          </p:nvPr>
        </p:nvSpPr>
        <p:spPr>
          <a:xfrm>
            <a:off x="866776" y="4700695"/>
            <a:ext cx="9326880" cy="1452880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23" name="Text Placeholder 2"/>
          <p:cNvSpPr>
            <a:spLocks noGrp="1"/>
          </p:cNvSpPr>
          <p:nvPr>
            <p:ph type="body" idx="1"/>
          </p:nvPr>
        </p:nvSpPr>
        <p:spPr>
          <a:xfrm>
            <a:off x="866776" y="3100496"/>
            <a:ext cx="9326880" cy="1600199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2462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4492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673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898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1231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3477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57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17969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2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DBA64-48F6-4403-8AEF-C8D894F260EC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104862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Project Title Goes here</a:t>
            </a:r>
          </a:p>
        </p:txBody>
      </p:sp>
      <p:sp>
        <p:nvSpPr>
          <p:cNvPr id="104862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28" name="Content Placeholder 2"/>
          <p:cNvSpPr>
            <a:spLocks noGrp="1"/>
          </p:cNvSpPr>
          <p:nvPr>
            <p:ph sz="half" idx="1"/>
          </p:nvPr>
        </p:nvSpPr>
        <p:spPr>
          <a:xfrm>
            <a:off x="548640" y="1706880"/>
            <a:ext cx="4846320" cy="4827694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29" name="Content Placeholder 3"/>
          <p:cNvSpPr>
            <a:spLocks noGrp="1"/>
          </p:cNvSpPr>
          <p:nvPr>
            <p:ph sz="half" idx="2"/>
          </p:nvPr>
        </p:nvSpPr>
        <p:spPr>
          <a:xfrm>
            <a:off x="5577840" y="1706880"/>
            <a:ext cx="4846320" cy="4827694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3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6D6FE-4F4E-4808-9395-3582790F56E5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104863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Project Title Goes here</a:t>
            </a:r>
          </a:p>
        </p:txBody>
      </p:sp>
      <p:sp>
        <p:nvSpPr>
          <p:cNvPr id="104863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34" name="Text Placeholder 2"/>
          <p:cNvSpPr>
            <a:spLocks noGrp="1"/>
          </p:cNvSpPr>
          <p:nvPr>
            <p:ph type="body" idx="1"/>
          </p:nvPr>
        </p:nvSpPr>
        <p:spPr>
          <a:xfrm>
            <a:off x="548640" y="1637455"/>
            <a:ext cx="4848226" cy="682413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22462" indent="0">
              <a:buNone/>
              <a:defRPr sz="2300" b="1"/>
            </a:lvl2pPr>
            <a:lvl3pPr marL="1044924" indent="0">
              <a:buNone/>
              <a:defRPr sz="2100" b="1"/>
            </a:lvl3pPr>
            <a:lvl4pPr marL="1567386" indent="0">
              <a:buNone/>
              <a:defRPr sz="1800" b="1"/>
            </a:lvl4pPr>
            <a:lvl5pPr marL="2089849" indent="0">
              <a:buNone/>
              <a:defRPr sz="1800" b="1"/>
            </a:lvl5pPr>
            <a:lvl6pPr marL="2612311" indent="0">
              <a:buNone/>
              <a:defRPr sz="1800" b="1"/>
            </a:lvl6pPr>
            <a:lvl7pPr marL="3134772" indent="0">
              <a:buNone/>
              <a:defRPr sz="1800" b="1"/>
            </a:lvl7pPr>
            <a:lvl8pPr marL="3657234" indent="0">
              <a:buNone/>
              <a:defRPr sz="1800" b="1"/>
            </a:lvl8pPr>
            <a:lvl9pPr marL="4179696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5" name="Content Placeholder 3"/>
          <p:cNvSpPr>
            <a:spLocks noGrp="1"/>
          </p:cNvSpPr>
          <p:nvPr>
            <p:ph sz="half" idx="2"/>
          </p:nvPr>
        </p:nvSpPr>
        <p:spPr>
          <a:xfrm>
            <a:off x="548640" y="2319868"/>
            <a:ext cx="4848226" cy="4214707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3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74032" y="1637455"/>
            <a:ext cx="4850130" cy="682413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22462" indent="0">
              <a:buNone/>
              <a:defRPr sz="2300" b="1"/>
            </a:lvl2pPr>
            <a:lvl3pPr marL="1044924" indent="0">
              <a:buNone/>
              <a:defRPr sz="2100" b="1"/>
            </a:lvl3pPr>
            <a:lvl4pPr marL="1567386" indent="0">
              <a:buNone/>
              <a:defRPr sz="1800" b="1"/>
            </a:lvl4pPr>
            <a:lvl5pPr marL="2089849" indent="0">
              <a:buNone/>
              <a:defRPr sz="1800" b="1"/>
            </a:lvl5pPr>
            <a:lvl6pPr marL="2612311" indent="0">
              <a:buNone/>
              <a:defRPr sz="1800" b="1"/>
            </a:lvl6pPr>
            <a:lvl7pPr marL="3134772" indent="0">
              <a:buNone/>
              <a:defRPr sz="1800" b="1"/>
            </a:lvl7pPr>
            <a:lvl8pPr marL="3657234" indent="0">
              <a:buNone/>
              <a:defRPr sz="1800" b="1"/>
            </a:lvl8pPr>
            <a:lvl9pPr marL="4179696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7" name="Content Placeholder 5"/>
          <p:cNvSpPr>
            <a:spLocks noGrp="1"/>
          </p:cNvSpPr>
          <p:nvPr>
            <p:ph sz="quarter" idx="4"/>
          </p:nvPr>
        </p:nvSpPr>
        <p:spPr>
          <a:xfrm>
            <a:off x="5574032" y="2319868"/>
            <a:ext cx="4850130" cy="4214707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3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16207-AD5D-48B3-919F-79A1F24C4101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104863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Project Title Goes here</a:t>
            </a:r>
          </a:p>
        </p:txBody>
      </p:sp>
      <p:sp>
        <p:nvSpPr>
          <p:cNvPr id="104864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0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C0D45-5405-4A76-86E0-4B537B79B3D7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104860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Project Title Goes here</a:t>
            </a:r>
          </a:p>
        </p:txBody>
      </p:sp>
      <p:sp>
        <p:nvSpPr>
          <p:cNvPr id="104860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697AC-A9C7-4A2B-A1BD-6EE04E530252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104864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Project Title Goes here</a:t>
            </a:r>
          </a:p>
        </p:txBody>
      </p:sp>
      <p:sp>
        <p:nvSpPr>
          <p:cNvPr id="104864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Title 1"/>
          <p:cNvSpPr>
            <a:spLocks noGrp="1"/>
          </p:cNvSpPr>
          <p:nvPr>
            <p:ph type="title"/>
          </p:nvPr>
        </p:nvSpPr>
        <p:spPr>
          <a:xfrm>
            <a:off x="548640" y="291253"/>
            <a:ext cx="3609976" cy="1239520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48645" name="Content Placeholder 2"/>
          <p:cNvSpPr>
            <a:spLocks noGrp="1"/>
          </p:cNvSpPr>
          <p:nvPr>
            <p:ph idx="1"/>
          </p:nvPr>
        </p:nvSpPr>
        <p:spPr>
          <a:xfrm>
            <a:off x="4290060" y="291255"/>
            <a:ext cx="6134100" cy="624332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46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" y="1530775"/>
            <a:ext cx="3609976" cy="5003801"/>
          </a:xfrm>
        </p:spPr>
        <p:txBody>
          <a:bodyPr/>
          <a:lstStyle>
            <a:lvl1pPr marL="0" indent="0">
              <a:buNone/>
              <a:defRPr sz="1600"/>
            </a:lvl1pPr>
            <a:lvl2pPr marL="522462" indent="0">
              <a:buNone/>
              <a:defRPr sz="1400"/>
            </a:lvl2pPr>
            <a:lvl3pPr marL="1044924" indent="0">
              <a:buNone/>
              <a:defRPr sz="1100"/>
            </a:lvl3pPr>
            <a:lvl4pPr marL="1567386" indent="0">
              <a:buNone/>
              <a:defRPr sz="1000"/>
            </a:lvl4pPr>
            <a:lvl5pPr marL="2089849" indent="0">
              <a:buNone/>
              <a:defRPr sz="1000"/>
            </a:lvl5pPr>
            <a:lvl6pPr marL="2612311" indent="0">
              <a:buNone/>
              <a:defRPr sz="1000"/>
            </a:lvl6pPr>
            <a:lvl7pPr marL="3134772" indent="0">
              <a:buNone/>
              <a:defRPr sz="1000"/>
            </a:lvl7pPr>
            <a:lvl8pPr marL="3657234" indent="0">
              <a:buNone/>
              <a:defRPr sz="1000"/>
            </a:lvl8pPr>
            <a:lvl9pPr marL="417969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C4CB7-09FE-4766-BD7F-D6F4F023C6E5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104864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Project Title Goes here</a:t>
            </a:r>
          </a:p>
        </p:txBody>
      </p:sp>
      <p:sp>
        <p:nvSpPr>
          <p:cNvPr id="104864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Title 1"/>
          <p:cNvSpPr>
            <a:spLocks noGrp="1"/>
          </p:cNvSpPr>
          <p:nvPr>
            <p:ph type="title"/>
          </p:nvPr>
        </p:nvSpPr>
        <p:spPr>
          <a:xfrm>
            <a:off x="2150746" y="5120641"/>
            <a:ext cx="6583680" cy="604521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12" name="Picture Placeholder 2"/>
          <p:cNvSpPr>
            <a:spLocks noGrp="1"/>
          </p:cNvSpPr>
          <p:nvPr>
            <p:ph type="pic" idx="1"/>
          </p:nvPr>
        </p:nvSpPr>
        <p:spPr>
          <a:xfrm>
            <a:off x="2150746" y="653627"/>
            <a:ext cx="6583680" cy="4389120"/>
          </a:xfrm>
        </p:spPr>
        <p:txBody>
          <a:bodyPr/>
          <a:lstStyle>
            <a:lvl1pPr marL="0" indent="0">
              <a:buNone/>
              <a:defRPr sz="3700"/>
            </a:lvl1pPr>
            <a:lvl2pPr marL="522462" indent="0">
              <a:buNone/>
              <a:defRPr sz="3200"/>
            </a:lvl2pPr>
            <a:lvl3pPr marL="1044924" indent="0">
              <a:buNone/>
              <a:defRPr sz="2700"/>
            </a:lvl3pPr>
            <a:lvl4pPr marL="1567386" indent="0">
              <a:buNone/>
              <a:defRPr sz="2300"/>
            </a:lvl4pPr>
            <a:lvl5pPr marL="2089849" indent="0">
              <a:buNone/>
              <a:defRPr sz="2300"/>
            </a:lvl5pPr>
            <a:lvl6pPr marL="2612311" indent="0">
              <a:buNone/>
              <a:defRPr sz="2300"/>
            </a:lvl6pPr>
            <a:lvl7pPr marL="3134772" indent="0">
              <a:buNone/>
              <a:defRPr sz="2300"/>
            </a:lvl7pPr>
            <a:lvl8pPr marL="3657234" indent="0">
              <a:buNone/>
              <a:defRPr sz="2300"/>
            </a:lvl8pPr>
            <a:lvl9pPr marL="4179696" indent="0">
              <a:buNone/>
              <a:defRPr sz="2300"/>
            </a:lvl9pPr>
          </a:lstStyle>
          <a:p>
            <a:endParaRPr lang="en-US" dirty="0"/>
          </a:p>
        </p:txBody>
      </p:sp>
      <p:sp>
        <p:nvSpPr>
          <p:cNvPr id="1048613" name="Text Placeholder 3"/>
          <p:cNvSpPr>
            <a:spLocks noGrp="1"/>
          </p:cNvSpPr>
          <p:nvPr>
            <p:ph type="body" sz="half" idx="2"/>
          </p:nvPr>
        </p:nvSpPr>
        <p:spPr>
          <a:xfrm>
            <a:off x="2150746" y="5725162"/>
            <a:ext cx="6583680" cy="858519"/>
          </a:xfrm>
        </p:spPr>
        <p:txBody>
          <a:bodyPr/>
          <a:lstStyle>
            <a:lvl1pPr marL="0" indent="0">
              <a:buNone/>
              <a:defRPr sz="1600"/>
            </a:lvl1pPr>
            <a:lvl2pPr marL="522462" indent="0">
              <a:buNone/>
              <a:defRPr sz="1400"/>
            </a:lvl2pPr>
            <a:lvl3pPr marL="1044924" indent="0">
              <a:buNone/>
              <a:defRPr sz="1100"/>
            </a:lvl3pPr>
            <a:lvl4pPr marL="1567386" indent="0">
              <a:buNone/>
              <a:defRPr sz="1000"/>
            </a:lvl4pPr>
            <a:lvl5pPr marL="2089849" indent="0">
              <a:buNone/>
              <a:defRPr sz="1000"/>
            </a:lvl5pPr>
            <a:lvl6pPr marL="2612311" indent="0">
              <a:buNone/>
              <a:defRPr sz="1000"/>
            </a:lvl6pPr>
            <a:lvl7pPr marL="3134772" indent="0">
              <a:buNone/>
              <a:defRPr sz="1000"/>
            </a:lvl7pPr>
            <a:lvl8pPr marL="3657234" indent="0">
              <a:buNone/>
              <a:defRPr sz="1000"/>
            </a:lvl8pPr>
            <a:lvl9pPr marL="417969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1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99491-784D-4935-B278-A1C057BA9BCD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104861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Project Title Goes here</a:t>
            </a:r>
          </a:p>
        </p:txBody>
      </p:sp>
      <p:sp>
        <p:nvSpPr>
          <p:cNvPr id="104861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18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1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EA0DA-3596-4130-9EBF-037B5B4086BD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104862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Project Title Goes here</a:t>
            </a:r>
          </a:p>
        </p:txBody>
      </p:sp>
      <p:sp>
        <p:nvSpPr>
          <p:cNvPr id="104862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Vertical Title 1"/>
          <p:cNvSpPr>
            <a:spLocks noGrp="1"/>
          </p:cNvSpPr>
          <p:nvPr>
            <p:ph type="title" orient="vert"/>
          </p:nvPr>
        </p:nvSpPr>
        <p:spPr>
          <a:xfrm>
            <a:off x="7955280" y="292949"/>
            <a:ext cx="2468880" cy="624162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07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8640" y="292949"/>
            <a:ext cx="7223760" cy="624162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0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96557-AC59-4AA0-AE89-AF1D224DAF6F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104860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Project Title Goes here</a:t>
            </a:r>
          </a:p>
        </p:txBody>
      </p:sp>
      <p:sp>
        <p:nvSpPr>
          <p:cNvPr id="10486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548640" y="292947"/>
            <a:ext cx="9875520" cy="1219200"/>
          </a:xfrm>
          <a:prstGeom prst="rect">
            <a:avLst/>
          </a:prstGeom>
        </p:spPr>
        <p:txBody>
          <a:bodyPr vert="horz" lIns="104493" tIns="52247" rIns="104493" bIns="52247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548640" y="1706880"/>
            <a:ext cx="9875520" cy="4827694"/>
          </a:xfrm>
          <a:prstGeom prst="rect">
            <a:avLst/>
          </a:prstGeom>
        </p:spPr>
        <p:txBody>
          <a:bodyPr vert="horz" lIns="104493" tIns="52247" rIns="104493" bIns="52247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548640" y="6780108"/>
            <a:ext cx="2560320" cy="389467"/>
          </a:xfrm>
          <a:prstGeom prst="rect">
            <a:avLst/>
          </a:prstGeom>
        </p:spPr>
        <p:txBody>
          <a:bodyPr vert="horz" lIns="104493" tIns="52247" rIns="104493" bIns="52247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DA881F-1C40-45F7-AE9D-E3B7DC999003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49040" y="6780108"/>
            <a:ext cx="3474720" cy="389467"/>
          </a:xfrm>
          <a:prstGeom prst="rect">
            <a:avLst/>
          </a:prstGeom>
        </p:spPr>
        <p:txBody>
          <a:bodyPr vert="horz" lIns="104493" tIns="52247" rIns="104493" bIns="52247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Project Title Goes here</a:t>
            </a:r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63840" y="6780108"/>
            <a:ext cx="2560320" cy="389467"/>
          </a:xfrm>
          <a:prstGeom prst="rect">
            <a:avLst/>
          </a:prstGeom>
        </p:spPr>
        <p:txBody>
          <a:bodyPr vert="horz" lIns="104493" tIns="52247" rIns="104493" bIns="52247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1044924" rtl="0" eaLnBrk="1" latinLnBrk="0" hangingPunct="1">
        <a:spcBef>
          <a:spcPct val="0"/>
        </a:spcBef>
        <a:buNone/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1847" indent="-391847" algn="l" defTabSz="1044924" rtl="0" eaLnBrk="1" latinLnBrk="0" hangingPunct="1">
        <a:spcBef>
          <a:spcPct val="20000"/>
        </a:spcBef>
        <a:buFont typeface="Arial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49001" indent="-326539" algn="l" defTabSz="1044924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06155" indent="-261232" algn="l" defTabSz="1044924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17" indent="-261232" algn="l" defTabSz="1044924" rtl="0" eaLnBrk="1" latinLnBrk="0" hangingPunct="1">
        <a:spcBef>
          <a:spcPct val="20000"/>
        </a:spcBef>
        <a:buFont typeface="Arial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51079" indent="-261232" algn="l" defTabSz="1044924" rtl="0" eaLnBrk="1" latinLnBrk="0" hangingPunct="1">
        <a:spcBef>
          <a:spcPct val="20000"/>
        </a:spcBef>
        <a:buFont typeface="Arial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73541" indent="-261232" algn="l" defTabSz="1044924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96003" indent="-261232" algn="l" defTabSz="1044924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18465" indent="-261232" algn="l" defTabSz="1044924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40927" indent="-261232" algn="l" defTabSz="1044924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4492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2462" algn="l" defTabSz="104492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44924" algn="l" defTabSz="104492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67386" algn="l" defTabSz="104492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89849" algn="l" defTabSz="104492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12311" algn="l" defTabSz="104492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34772" algn="l" defTabSz="104492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57234" algn="l" defTabSz="104492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179696" algn="l" defTabSz="104492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0972800" cy="1219200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Smt.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Kashibai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Navale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College Of Engineering</a:t>
            </a:r>
            <a:br>
              <a:rPr lang="en-US" sz="29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en-US" sz="2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Technology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7" name="Subtitle 2"/>
          <p:cNvSpPr>
            <a:spLocks noGrp="1"/>
          </p:cNvSpPr>
          <p:nvPr>
            <p:ph type="subTitle" idx="1"/>
          </p:nvPr>
        </p:nvSpPr>
        <p:spPr>
          <a:xfrm>
            <a:off x="228600" y="1338896"/>
            <a:ext cx="10363200" cy="3537903"/>
          </a:xfrm>
        </p:spPr>
        <p:txBody>
          <a:bodyPr>
            <a:normAutofit/>
          </a:bodyPr>
          <a:lstStyle/>
          <a:p>
            <a:endParaRPr lang="en-US" sz="3200" dirty="0">
              <a:solidFill>
                <a:srgbClr val="C00000"/>
              </a:solidFill>
            </a:endParaRPr>
          </a:p>
          <a:p>
            <a:r>
              <a:rPr lang="en-US" sz="3200" dirty="0">
                <a:solidFill>
                  <a:srgbClr val="C00000"/>
                </a:solidFill>
              </a:rPr>
              <a:t>“ONE INDIA PORTAL APP”</a:t>
            </a:r>
            <a:r>
              <a:rPr lang="en-US" sz="3200" dirty="0"/>
              <a:t> </a:t>
            </a:r>
            <a:endParaRPr lang="en-US" sz="3200" dirty="0">
              <a:solidFill>
                <a:srgbClr val="C00000"/>
              </a:solidFill>
            </a:endParaRPr>
          </a:p>
          <a:p>
            <a:endParaRPr lang="en-US" sz="2700" dirty="0"/>
          </a:p>
        </p:txBody>
      </p:sp>
      <p:sp>
        <p:nvSpPr>
          <p:cNvPr id="1048588" name="Subtitle 2"/>
          <p:cNvSpPr txBox="1"/>
          <p:nvPr/>
        </p:nvSpPr>
        <p:spPr>
          <a:xfrm>
            <a:off x="76200" y="2590799"/>
            <a:ext cx="10896600" cy="2286000"/>
          </a:xfrm>
          <a:prstGeom prst="rect">
            <a:avLst/>
          </a:prstGeom>
        </p:spPr>
        <p:txBody>
          <a:bodyPr vert="horz" lIns="104493" tIns="52247" rIns="104493" bIns="52247" rtlCol="0">
            <a:normAutofit lnSpcReduction="10000"/>
          </a:bodyPr>
          <a:lstStyle/>
          <a:p>
            <a:pPr algn="ctr">
              <a:spcBef>
                <a:spcPct val="20000"/>
              </a:spcBef>
            </a:pPr>
            <a:r>
              <a:rPr lang="en-US" sz="2700" dirty="0">
                <a:solidFill>
                  <a:srgbClr val="C00000"/>
                </a:solidFill>
              </a:rPr>
              <a:t>Group No :  10</a:t>
            </a:r>
          </a:p>
          <a:p>
            <a:pPr marL="514350" indent="-514350" algn="ctr">
              <a:spcBef>
                <a:spcPct val="20000"/>
              </a:spcBef>
              <a:buAutoNum type="arabicPeriod"/>
            </a:pPr>
            <a:r>
              <a:rPr lang="en-US" sz="2700" dirty="0" err="1">
                <a:solidFill>
                  <a:srgbClr val="C00000"/>
                </a:solidFill>
              </a:rPr>
              <a:t>Vaishanvi</a:t>
            </a:r>
            <a:r>
              <a:rPr lang="en-US" sz="2700" dirty="0">
                <a:solidFill>
                  <a:srgbClr val="C00000"/>
                </a:solidFill>
              </a:rPr>
              <a:t> Vaidya   </a:t>
            </a:r>
          </a:p>
          <a:p>
            <a:pPr marL="514350" indent="-514350" algn="ctr">
              <a:spcBef>
                <a:spcPct val="20000"/>
              </a:spcBef>
              <a:buAutoNum type="arabicPeriod"/>
            </a:pPr>
            <a:r>
              <a:rPr lang="en-US" sz="2700" dirty="0">
                <a:solidFill>
                  <a:srgbClr val="C00000"/>
                </a:solidFill>
              </a:rPr>
              <a:t>Yash Chaskar</a:t>
            </a:r>
          </a:p>
          <a:p>
            <a:pPr marL="514350" indent="-514350" algn="ctr">
              <a:spcBef>
                <a:spcPct val="20000"/>
              </a:spcBef>
              <a:buFontTx/>
              <a:buAutoNum type="arabicPeriod"/>
            </a:pPr>
            <a:r>
              <a:rPr lang="en-US" sz="2700" dirty="0">
                <a:solidFill>
                  <a:srgbClr val="C00000"/>
                </a:solidFill>
              </a:rPr>
              <a:t>Pritam Shelke</a:t>
            </a:r>
          </a:p>
          <a:p>
            <a:pPr marL="514350" indent="-514350" algn="ctr">
              <a:spcBef>
                <a:spcPct val="20000"/>
              </a:spcBef>
              <a:buFontTx/>
              <a:buAutoNum type="arabicPeriod"/>
            </a:pPr>
            <a:r>
              <a:rPr lang="en-US" sz="2700" dirty="0">
                <a:solidFill>
                  <a:srgbClr val="C00000"/>
                </a:solidFill>
              </a:rPr>
              <a:t>Atharva Trivedi</a:t>
            </a:r>
          </a:p>
          <a:p>
            <a:pPr marL="514350" indent="-514350" algn="ctr">
              <a:spcBef>
                <a:spcPct val="20000"/>
              </a:spcBef>
              <a:buAutoNum type="arabicPeriod"/>
            </a:pPr>
            <a:endParaRPr lang="en-US" sz="3000" dirty="0">
              <a:solidFill>
                <a:srgbClr val="C00000"/>
              </a:solidFill>
            </a:endParaRPr>
          </a:p>
          <a:p>
            <a:pPr algn="ctr">
              <a:spcBef>
                <a:spcPct val="20000"/>
              </a:spcBef>
            </a:pPr>
            <a:endParaRPr lang="en-US" sz="2500" dirty="0">
              <a:solidFill>
                <a:schemeClr val="tx1">
                  <a:tint val="75000"/>
                </a:schemeClr>
              </a:solidFill>
            </a:endParaRPr>
          </a:p>
          <a:p>
            <a:pPr algn="ctr">
              <a:spcBef>
                <a:spcPct val="20000"/>
              </a:spcBef>
            </a:pPr>
            <a:endParaRPr lang="en-US" sz="2700" dirty="0">
              <a:solidFill>
                <a:schemeClr val="tx1">
                  <a:tint val="75000"/>
                </a:schemeClr>
              </a:solidFill>
            </a:endParaRPr>
          </a:p>
        </p:txBody>
      </p:sp>
      <p:pic>
        <p:nvPicPr>
          <p:cNvPr id="2097152" name="Picture 3" descr="G:\Guest Lectures - Seminars - Workshops Conducted\PBS\images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372600" y="15767"/>
            <a:ext cx="1600200" cy="1199895"/>
          </a:xfrm>
          <a:prstGeom prst="rect">
            <a:avLst/>
          </a:prstGeom>
          <a:noFill/>
        </p:spPr>
      </p:pic>
      <p:pic>
        <p:nvPicPr>
          <p:cNvPr id="2097153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33972"/>
            <a:ext cx="1714500" cy="1152525"/>
          </a:xfrm>
          <a:prstGeom prst="rect">
            <a:avLst/>
          </a:prstGeom>
        </p:spPr>
      </p:pic>
      <p:sp>
        <p:nvSpPr>
          <p:cNvPr id="1048589" name="Subtitle 2"/>
          <p:cNvSpPr txBox="1"/>
          <p:nvPr/>
        </p:nvSpPr>
        <p:spPr>
          <a:xfrm>
            <a:off x="3276600" y="6553200"/>
            <a:ext cx="3962400" cy="609600"/>
          </a:xfrm>
          <a:prstGeom prst="rect">
            <a:avLst/>
          </a:prstGeom>
        </p:spPr>
        <p:txBody>
          <a:bodyPr vert="horz" lIns="104493" tIns="52247" rIns="104493" bIns="52247" rtlCol="0">
            <a:normAutofit/>
          </a:bodyPr>
          <a:lstStyle/>
          <a:p>
            <a:pPr algn="ctr">
              <a:spcBef>
                <a:spcPct val="20000"/>
              </a:spcBef>
            </a:pPr>
            <a:r>
              <a:rPr lang="en-US" sz="27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Y. 2025-2026</a:t>
            </a:r>
            <a:endParaRPr lang="zh-CN" altLang="en-US" dirty="0"/>
          </a:p>
          <a:p>
            <a:pPr algn="ctr">
              <a:spcBef>
                <a:spcPct val="20000"/>
              </a:spcBef>
            </a:pPr>
            <a:endParaRPr lang="en-US" sz="27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048590" name="TextBox 10"/>
          <p:cNvSpPr txBox="1"/>
          <p:nvPr/>
        </p:nvSpPr>
        <p:spPr>
          <a:xfrm>
            <a:off x="0" y="5029198"/>
            <a:ext cx="10972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Under Guidance of </a:t>
            </a:r>
          </a:p>
          <a:p>
            <a:pPr algn="ctr"/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Prof.A.S.Narote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Titl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/>
              <a:t>  Contents</a:t>
            </a:r>
          </a:p>
        </p:txBody>
      </p:sp>
      <p:sp>
        <p:nvSpPr>
          <p:cNvPr id="1048597" name="Content Placeholder 2"/>
          <p:cNvSpPr>
            <a:spLocks noGrp="1"/>
          </p:cNvSpPr>
          <p:nvPr>
            <p:ph idx="1"/>
          </p:nvPr>
        </p:nvSpPr>
        <p:spPr>
          <a:xfrm>
            <a:off x="381000" y="1706880"/>
            <a:ext cx="10043160" cy="4770120"/>
          </a:xfrm>
        </p:spPr>
        <p:txBody>
          <a:bodyPr>
            <a:noAutofit/>
          </a:bodyPr>
          <a:lstStyle/>
          <a:p>
            <a:pPr marL="0" lvl="0" indent="0">
              <a:lnSpc>
                <a:spcPct val="150000"/>
              </a:lnSpc>
              <a:buNone/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Problem Statement of Project. 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System Architecture &amp; Literature Survey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Requirement Analysis 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ethodology /Basic details of Implementation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Design</a:t>
            </a:r>
          </a:p>
          <a:p>
            <a:pPr marL="342900" lvl="0" indent="-342900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Planning </a:t>
            </a:r>
          </a:p>
          <a:p>
            <a:pPr marL="342900" lvl="0" indent="-342900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</a:t>
            </a:r>
          </a:p>
          <a:p>
            <a:pPr marL="342900" lvl="0" indent="-342900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References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 </a:t>
            </a:r>
          </a:p>
        </p:txBody>
      </p:sp>
      <p:sp>
        <p:nvSpPr>
          <p:cNvPr id="104859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1048599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0" y="6780108"/>
            <a:ext cx="2209800" cy="389467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Project Group No:    10                  </a:t>
            </a:r>
          </a:p>
        </p:txBody>
      </p:sp>
      <p:sp>
        <p:nvSpPr>
          <p:cNvPr id="1048600" name="Footer Placeholder 3"/>
          <p:cNvSpPr txBox="1"/>
          <p:nvPr/>
        </p:nvSpPr>
        <p:spPr>
          <a:xfrm>
            <a:off x="3810000" y="6780107"/>
            <a:ext cx="3276600" cy="389467"/>
          </a:xfrm>
          <a:prstGeom prst="rect">
            <a:avLst/>
          </a:prstGeom>
        </p:spPr>
        <p:txBody>
          <a:bodyPr vert="horz" lIns="104493" tIns="52247" rIns="104493" bIns="52247" rtlCol="0" anchor="ctr"/>
          <a:lstStyle>
            <a:defPPr>
              <a:defRPr lang="en-US"/>
            </a:defPPr>
            <a:lvl1pPr marL="0" algn="ctr" defTabSz="1044924" rtl="0" eaLnBrk="1" latinLnBrk="0" hangingPunct="1"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22462" algn="l" defTabSz="10449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24" algn="l" defTabSz="10449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386" algn="l" defTabSz="10449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849" algn="l" defTabSz="10449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311" algn="l" defTabSz="10449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772" algn="l" defTabSz="10449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234" algn="l" defTabSz="10449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696" algn="l" defTabSz="10449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Centralized Government Information Portal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48601" name="Footer Placeholder 3"/>
          <p:cNvSpPr txBox="1"/>
          <p:nvPr/>
        </p:nvSpPr>
        <p:spPr>
          <a:xfrm>
            <a:off x="9525000" y="6780106"/>
            <a:ext cx="1257300" cy="389467"/>
          </a:xfrm>
          <a:prstGeom prst="rect">
            <a:avLst/>
          </a:prstGeom>
        </p:spPr>
        <p:txBody>
          <a:bodyPr vert="horz" lIns="104493" tIns="52247" rIns="104493" bIns="52247" rtlCol="0" anchor="ctr"/>
          <a:lstStyle>
            <a:defPPr>
              <a:defRPr lang="en-US"/>
            </a:defPPr>
            <a:lvl1pPr marL="0" algn="ctr" defTabSz="1044924" rtl="0" eaLnBrk="1" latinLnBrk="0" hangingPunct="1"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22462" algn="l" defTabSz="10449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24" algn="l" defTabSz="10449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386" algn="l" defTabSz="10449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849" algn="l" defTabSz="10449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311" algn="l" defTabSz="10449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772" algn="l" defTabSz="10449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234" algn="l" defTabSz="10449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696" algn="l" defTabSz="10449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   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30986-3CAB-83D1-59F7-FA1645703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000" b="1" dirty="0"/>
          </a:p>
          <a:p>
            <a:r>
              <a:rPr lang="en-US" sz="2000" b="1" dirty="0"/>
              <a:t>Government scheme and service information is scattered across many websites.</a:t>
            </a:r>
          </a:p>
          <a:p>
            <a:endParaRPr lang="en-US" sz="2000" b="1" dirty="0"/>
          </a:p>
          <a:p>
            <a:r>
              <a:rPr lang="en-US" sz="2000" b="1" dirty="0"/>
              <a:t>Citizens struggle to find reliable and complete details in one place.</a:t>
            </a:r>
          </a:p>
          <a:p>
            <a:endParaRPr lang="en-US" sz="2000" b="1" dirty="0"/>
          </a:p>
          <a:p>
            <a:r>
              <a:rPr lang="en-US" sz="2000" b="1" dirty="0"/>
              <a:t>Lack of awareness leads to under-utilization of helpful schemes.</a:t>
            </a:r>
          </a:p>
          <a:p>
            <a:endParaRPr lang="en-US" sz="2000" b="1" dirty="0"/>
          </a:p>
          <a:p>
            <a:r>
              <a:rPr lang="en-US" sz="2000" b="1" dirty="0"/>
              <a:t>There is no centralized portal for schemes, forms, documents, and updates.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8BB21E-9DB0-E805-3AD1-C7FED5EC9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Title Goes here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21FEA6-CA4B-C11B-8550-159B0CE6F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4209CCF-A00F-1DF1-A013-05E8F5DEE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293688"/>
            <a:ext cx="9874250" cy="1219200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lvl="0">
              <a:lnSpc>
                <a:spcPct val="150000"/>
              </a:lnSpc>
            </a:pPr>
            <a:r>
              <a:rPr lang="en-US" sz="5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Problem Statement of Project</a:t>
            </a:r>
            <a:endParaRPr lang="en-IN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6654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1929B-721F-864A-1BF7-9350C7494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/>
              <a:t> Main Components (Short Points):</a:t>
            </a:r>
          </a:p>
          <a:p>
            <a:endParaRPr lang="en-US" sz="1800" dirty="0"/>
          </a:p>
          <a:p>
            <a:r>
              <a:rPr lang="en-US" sz="1800" b="1" dirty="0"/>
              <a:t>User Interface (Web/Mobile)</a:t>
            </a:r>
            <a:br>
              <a:rPr lang="en-US" sz="1800" dirty="0"/>
            </a:br>
            <a:r>
              <a:rPr lang="en-US" sz="1800" dirty="0"/>
              <a:t>– Citizens access schemes, forms, and info.</a:t>
            </a:r>
          </a:p>
          <a:p>
            <a:endParaRPr lang="en-US" sz="1800" dirty="0"/>
          </a:p>
          <a:p>
            <a:r>
              <a:rPr lang="en-US" sz="1800" b="1" dirty="0"/>
              <a:t>Application Layer</a:t>
            </a:r>
            <a:br>
              <a:rPr lang="en-US" sz="1800" dirty="0"/>
            </a:br>
            <a:r>
              <a:rPr lang="en-US" sz="1800" dirty="0"/>
              <a:t>– Handles search, filters, multilingual support.</a:t>
            </a:r>
          </a:p>
          <a:p>
            <a:endParaRPr lang="en-US" sz="1800" dirty="0"/>
          </a:p>
          <a:p>
            <a:r>
              <a:rPr lang="en-US" sz="1800" b="1" dirty="0"/>
              <a:t>Database Layer</a:t>
            </a:r>
            <a:br>
              <a:rPr lang="en-US" sz="1800" dirty="0"/>
            </a:br>
            <a:r>
              <a:rPr lang="en-US" sz="1800" dirty="0"/>
              <a:t>– Stores scheme details, documents, forms, user profiles.</a:t>
            </a:r>
          </a:p>
          <a:p>
            <a:endParaRPr lang="en-US" sz="1800" dirty="0"/>
          </a:p>
          <a:p>
            <a:r>
              <a:rPr lang="en-US" sz="1800" b="1" dirty="0"/>
              <a:t>Admin Panel</a:t>
            </a:r>
            <a:br>
              <a:rPr lang="en-US" sz="1800" dirty="0"/>
            </a:br>
            <a:r>
              <a:rPr lang="en-US" sz="1800" dirty="0"/>
              <a:t>– Updates government schemes and verifies content.</a:t>
            </a:r>
          </a:p>
          <a:p>
            <a:endParaRPr lang="en-US" sz="18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4DFBAE-C035-8385-62EB-CDE02C38F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749EB0D-8CE9-9CF9-2909-EE75EBDD7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293688"/>
            <a:ext cx="9874250" cy="1219200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>
              <a:lnSpc>
                <a:spcPct val="150000"/>
              </a:lnSpc>
            </a:pPr>
            <a:br>
              <a:rPr lang="en-US" sz="4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4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System Architecture  </a:t>
            </a:r>
            <a:br>
              <a:rPr lang="en-IN" sz="4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sz="4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9257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26212D81-B0DF-EACD-A87D-86BB06B65C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670" y="1262042"/>
            <a:ext cx="4046967" cy="607282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18AF7C-5A92-7A8D-FA21-F7FBC5843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AD9C20-ED3C-4079-759E-A9E395F8F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1EDB99C-F342-CA37-B60F-0EB1042E5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293688"/>
            <a:ext cx="9874250" cy="1219200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>
              <a:lnSpc>
                <a:spcPct val="150000"/>
              </a:lnSpc>
            </a:pPr>
            <a:br>
              <a:rPr lang="en-US" sz="4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4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System Architecture  </a:t>
            </a:r>
            <a:br>
              <a:rPr lang="en-IN" sz="4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sz="4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3090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2A470-42BA-40DC-4EDF-DDB45CECC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endParaRPr lang="en-US" b="1" dirty="0"/>
          </a:p>
          <a:p>
            <a:endParaRPr lang="en-US" dirty="0"/>
          </a:p>
          <a:p>
            <a:r>
              <a:rPr lang="en-US" b="1" dirty="0"/>
              <a:t>E-Governance Platforms (UMANG, MyGov, </a:t>
            </a:r>
            <a:r>
              <a:rPr lang="en-US" b="1" dirty="0" err="1"/>
              <a:t>MahaDBT</a:t>
            </a:r>
            <a:r>
              <a:rPr lang="en-US" b="1" dirty="0"/>
              <a:t>)</a:t>
            </a:r>
            <a:br>
              <a:rPr lang="en-US" dirty="0"/>
            </a:br>
            <a:r>
              <a:rPr lang="en-US" dirty="0"/>
              <a:t>– Provide services but lack centralized and user-friendly design.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Research Paper:</a:t>
            </a:r>
            <a:endParaRPr lang="en-US" dirty="0"/>
          </a:p>
          <a:p>
            <a:pPr lvl="1"/>
            <a:r>
              <a:rPr lang="en-US" i="1" dirty="0"/>
              <a:t>“A Comparative Study of Indian Government e-Governance Portals”</a:t>
            </a:r>
            <a:endParaRPr lang="en-US" dirty="0"/>
          </a:p>
          <a:p>
            <a:pPr lvl="1"/>
            <a:r>
              <a:rPr lang="en-US" dirty="0"/>
              <a:t>Dr. M. S. Rao, P. Jain, IJSRCSEIT, 2020.</a:t>
            </a:r>
          </a:p>
          <a:p>
            <a:pPr lvl="1"/>
            <a:r>
              <a:rPr lang="en-US" dirty="0"/>
              <a:t>Highlights usability gaps in existing portals.</a:t>
            </a:r>
          </a:p>
          <a:p>
            <a:pPr marL="522462" lvl="1" indent="0">
              <a:buNone/>
            </a:pPr>
            <a:endParaRPr lang="en-US" dirty="0"/>
          </a:p>
          <a:p>
            <a:r>
              <a:rPr lang="en-US" b="1" dirty="0"/>
              <a:t>Research Paper:</a:t>
            </a:r>
            <a:endParaRPr lang="en-US" dirty="0"/>
          </a:p>
          <a:p>
            <a:pPr lvl="1"/>
            <a:r>
              <a:rPr lang="en-US" i="1" dirty="0"/>
              <a:t>“Digital India and E-Governance Services”</a:t>
            </a:r>
            <a:endParaRPr lang="en-US" dirty="0"/>
          </a:p>
          <a:p>
            <a:pPr lvl="1"/>
            <a:r>
              <a:rPr lang="en-US" dirty="0"/>
              <a:t>A. Sharma, International Journal of Computer Applications (IJCA), 2021.</a:t>
            </a:r>
          </a:p>
          <a:p>
            <a:pPr lvl="1"/>
            <a:r>
              <a:rPr lang="en-US" dirty="0"/>
              <a:t>Stresses need for inclusive, accessible platforms.</a:t>
            </a:r>
          </a:p>
          <a:p>
            <a:pPr lvl="1"/>
            <a:endParaRPr lang="en-US" dirty="0"/>
          </a:p>
          <a:p>
            <a:r>
              <a:rPr lang="en-US" b="1" dirty="0"/>
              <a:t>Gap Identified</a:t>
            </a:r>
            <a:br>
              <a:rPr lang="en-US" dirty="0"/>
            </a:br>
            <a:r>
              <a:rPr lang="en-US" dirty="0"/>
              <a:t>– No single portal provides all schemes with eligibility checks + document guidance.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sz="1800" dirty="0"/>
          </a:p>
          <a:p>
            <a:endParaRPr lang="en-US" sz="18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6B90E4-4520-902A-E2DF-1050A948F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Title Goes here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5BB7DE-832F-1EC0-6ACA-32953425B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A307EF5-925A-68A9-9349-F74B01BA6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293688"/>
            <a:ext cx="9874250" cy="1219200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lvl="0">
              <a:lnSpc>
                <a:spcPct val="150000"/>
              </a:lnSpc>
            </a:pPr>
            <a:r>
              <a:rPr lang="en-US" sz="5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Literature Survey</a:t>
            </a:r>
            <a:endParaRPr lang="en-IN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9391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58D179-33E2-1AF9-BA4E-EDC9DB57F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Title Goes here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0395F9-0217-CBCA-FF9F-569EA10CC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413215D-D9BD-FA54-639E-F258F5A3D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19697"/>
            <a:ext cx="9874250" cy="1219200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dirty="0"/>
              <a:t>  </a:t>
            </a:r>
            <a:br>
              <a:rPr lang="en-US" dirty="0"/>
            </a:br>
            <a:r>
              <a:rPr lang="en-US" sz="5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en-US" sz="5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5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Requirement Analysis </a:t>
            </a:r>
            <a:br>
              <a:rPr lang="en-IN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IN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1B126B6-712D-A524-5B15-114E2ADE72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199" y="-303509"/>
            <a:ext cx="9296401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Application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government schemes and forms.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Category-wise search and filters for easy access.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Multilingual support for wider reach.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 panel for scheme updates and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5267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3207B-FB9C-EF67-AA34-C9C9E0714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/>
              <a:t>Centralized Web Platform</a:t>
            </a:r>
            <a:br>
              <a:rPr lang="en-US" sz="1800" dirty="0"/>
            </a:br>
            <a:r>
              <a:rPr lang="en-US" sz="1800" dirty="0"/>
              <a:t> All govt schemes, forms, and services in one place.</a:t>
            </a:r>
          </a:p>
          <a:p>
            <a:endParaRPr lang="en-US" sz="1800" b="1" dirty="0"/>
          </a:p>
          <a:p>
            <a:r>
              <a:rPr lang="en-US" sz="1800" b="1" dirty="0"/>
              <a:t>Category &amp; Document Filters</a:t>
            </a:r>
            <a:br>
              <a:rPr lang="en-US" sz="1800" dirty="0"/>
            </a:br>
            <a:r>
              <a:rPr lang="en-US" sz="1800" dirty="0"/>
              <a:t> Users can search schemes by type and view required documents.</a:t>
            </a:r>
          </a:p>
          <a:p>
            <a:endParaRPr lang="en-US" sz="1800" b="1" dirty="0"/>
          </a:p>
          <a:p>
            <a:r>
              <a:rPr lang="en-US" sz="1800" b="1" dirty="0"/>
              <a:t>Multilingual Interface</a:t>
            </a:r>
            <a:br>
              <a:rPr lang="en-US" sz="1800" dirty="0"/>
            </a:br>
            <a:r>
              <a:rPr lang="en-US" sz="1800" dirty="0"/>
              <a:t>Support for English, Hindi, and Marathi.</a:t>
            </a:r>
          </a:p>
          <a:p>
            <a:endParaRPr lang="en-US" sz="1800" b="1" dirty="0"/>
          </a:p>
          <a:p>
            <a:r>
              <a:rPr lang="en-US" sz="1800" b="1" dirty="0"/>
              <a:t>Agentic AI Integration</a:t>
            </a:r>
            <a:r>
              <a:rPr lang="en-US" sz="1800" dirty="0"/>
              <a:t> 🧠</a:t>
            </a:r>
          </a:p>
          <a:p>
            <a:pPr marL="0" indent="0">
              <a:buNone/>
            </a:pPr>
            <a:r>
              <a:rPr lang="en-US" sz="1800" dirty="0"/>
              <a:t>        Smart assistant suggests schemes based on user profile and queries.</a:t>
            </a:r>
          </a:p>
          <a:p>
            <a:endParaRPr lang="en-US" sz="18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CC93FF-BF1B-3773-6823-2D51C6360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Title Goes here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9FBD39-A3EF-4F3C-75A4-4D52274DE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5E6CDD2-F1B0-D948-993C-1F93A40C5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293688"/>
            <a:ext cx="9874250" cy="1219200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5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Methodologies</a:t>
            </a:r>
            <a:endParaRPr lang="en-IN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420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54C2C-E712-8766-A17B-116D79062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Structural Diagrams          </a:t>
            </a:r>
          </a:p>
          <a:p>
            <a:endParaRPr lang="en-US" sz="32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80363C-6CB2-F66D-1996-0337FFE1B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Title Goes here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8A6BC2-07FF-DFF0-79FB-0B66A59DC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A6F26D4-A72B-8D58-0A03-7DD3CF601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293688"/>
            <a:ext cx="9874250" cy="1219200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br>
              <a:rPr lang="en-US" sz="5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5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Design</a:t>
            </a:r>
            <a:br>
              <a:rPr lang="en-US" sz="5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E13D9D-7EAA-691A-26E0-C29CE5B2E6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2514600"/>
            <a:ext cx="78105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016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04AF3-D19B-75F9-A98D-E86E2F0A1C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</a:t>
            </a:r>
            <a:r>
              <a:rPr lang="en-US" sz="3200" b="1" dirty="0"/>
              <a:t>Behavioral</a:t>
            </a:r>
            <a:r>
              <a:rPr lang="en-US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Diagram </a:t>
            </a:r>
          </a:p>
          <a:p>
            <a:r>
              <a:rPr lang="en-US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Use- case</a:t>
            </a:r>
          </a:p>
          <a:p>
            <a:endParaRPr lang="en-US" sz="3200" b="1" dirty="0"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endParaRPr lang="en-US" sz="32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7CF363-34A7-079D-1291-0B7BA026F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Title Goes here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80F3B3-A2DB-0BCF-7C10-D2A4E6E36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D9091BD-0279-F87B-45CA-000ED8906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293688"/>
            <a:ext cx="9874250" cy="1219200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br>
              <a:rPr lang="en-US" sz="5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5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Design </a:t>
            </a:r>
            <a:br>
              <a:rPr lang="en-US" sz="5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410BC15-CB92-23B9-D29C-10AAA0209A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6933" y="1779299"/>
            <a:ext cx="3944066" cy="414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465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8B4F9-416B-F103-02CC-D9DD8B652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Behavioral</a:t>
            </a:r>
            <a:r>
              <a:rPr lang="en-US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Diagram </a:t>
            </a:r>
          </a:p>
          <a:p>
            <a:r>
              <a:rPr lang="en-US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Sequence                  </a:t>
            </a:r>
            <a:endParaRPr lang="en-US" sz="32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9D93E3-F9AC-8D52-087D-CA936CF09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Title Goes here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B14464-8973-70AC-FD2E-525C02FEB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11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B4662A0-9013-7069-EB32-1F3CCDAAA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293688"/>
            <a:ext cx="9874250" cy="1219200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br>
              <a:rPr lang="en-US" sz="5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5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5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Design </a:t>
            </a:r>
            <a:br>
              <a:rPr lang="en-US" sz="5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5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D679923-11DF-BC9A-276D-CFA2B3E2F9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5472" y="2123574"/>
            <a:ext cx="5715798" cy="359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662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AC6E3-203C-92A2-7835-DB939C0B5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Behavioral</a:t>
            </a:r>
            <a:r>
              <a:rPr lang="en-US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Diagram </a:t>
            </a:r>
          </a:p>
          <a:p>
            <a:r>
              <a:rPr lang="en-US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Activity Diagrams         </a:t>
            </a:r>
            <a:endParaRPr lang="en-US" sz="3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D847F8-0E09-4FCA-EEA1-CA54CAB79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12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4C1A3D9-AF27-A476-3527-30926D989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293688"/>
            <a:ext cx="9874250" cy="1219200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br>
              <a:rPr lang="en-US" sz="5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5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5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Design </a:t>
            </a:r>
            <a:br>
              <a:rPr lang="en-US" sz="5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5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2651A6-D249-D389-DAFD-83F0A3E251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1730250"/>
            <a:ext cx="1766458" cy="558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814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1470AA-BEE4-A5C0-BE4D-9B5292157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Title Goes here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A4EA8E-C941-15E3-E674-78952DF73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13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EB5A1FF-BCAD-B8D6-A3C2-596DF0C8A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293688"/>
            <a:ext cx="9874250" cy="1219200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br>
              <a:rPr lang="en-US" sz="5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5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5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Planning </a:t>
            </a:r>
            <a:br>
              <a:rPr lang="en-US" sz="5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5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5EEFF84-7B60-AC01-DF03-DA54780B17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27429" y="2057400"/>
            <a:ext cx="9317942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Requirement Gathering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Collect information about govt schemes, forms, and services.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Design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Create architecture, structural and behavioral diagrams.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Develop portal UI, database, admin panel, and AI module.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Verify functionality, usability, and data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 &amp; Maintenance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Launch </a:t>
            </a:r>
            <a:r>
              <a:rPr lang="en-US" altLang="en-US" sz="1800" dirty="0">
                <a:latin typeface="Arial" panose="020B0604020202020204" pitchFamily="34" charset="0"/>
              </a:rPr>
              <a:t>application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update schemes regularly.</a:t>
            </a:r>
          </a:p>
        </p:txBody>
      </p:sp>
    </p:spTree>
    <p:extLst>
      <p:ext uri="{BB962C8B-B14F-4D97-AF65-F5344CB8AC3E}">
        <p14:creationId xmlns:p14="http://schemas.microsoft.com/office/powerpoint/2010/main" val="41971144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541744-E035-0A38-DFBA-C28B73C5B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14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92FAB80-D7B8-A1AE-F7F5-E24A561A7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293688"/>
            <a:ext cx="9874250" cy="1219200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br>
              <a:rPr lang="en-US" sz="5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5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5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5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</a:t>
            </a:r>
            <a:br>
              <a:rPr lang="en-US" sz="5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5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en-US" sz="5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5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7ABC0E9-52F7-4AC6-2CD5-6121D85529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1698011"/>
            <a:ext cx="9220199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centralized portal reduces the difficulty of accessing government schemes and forms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Citizens get easy, reliable, and categorized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Multilingual support improves accessibility for rural users.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Agentic AI provides personalized scheme recommendations.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supports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Digital India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promoting e-governance.</a:t>
            </a:r>
          </a:p>
        </p:txBody>
      </p:sp>
    </p:spTree>
    <p:extLst>
      <p:ext uri="{BB962C8B-B14F-4D97-AF65-F5344CB8AC3E}">
        <p14:creationId xmlns:p14="http://schemas.microsoft.com/office/powerpoint/2010/main" val="32894481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4F7DC-8B53-8B27-DF8B-E569C7463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B37A9-F691-6327-D620-6B7FA315DA1A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 flipV="1">
            <a:off x="502920" y="6534572"/>
            <a:ext cx="45719" cy="45719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8ACFF1-3F73-709A-4E07-0A85B6223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Title Goes here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51A34C-8E39-D480-0F60-1F6070951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15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7ACC905-C71A-55BB-F675-65383EFFEDFA}"/>
              </a:ext>
            </a:extLst>
          </p:cNvPr>
          <p:cNvSpPr txBox="1">
            <a:spLocks/>
          </p:cNvSpPr>
          <p:nvPr/>
        </p:nvSpPr>
        <p:spPr>
          <a:xfrm>
            <a:off x="549275" y="293688"/>
            <a:ext cx="9874250" cy="12192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104493" tIns="52247" rIns="104493" bIns="52247" rtlCol="0" anchor="ctr">
            <a:normAutofit fontScale="25000" lnSpcReduction="20000"/>
          </a:bodyPr>
          <a:lstStyle>
            <a:lvl1pPr algn="ctr" defTabSz="1044924" rtl="0" eaLnBrk="1" latinLnBrk="0" hangingPunct="1">
              <a:spcBef>
                <a:spcPct val="0"/>
              </a:spcBef>
              <a:buNone/>
              <a:defRPr sz="5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en-US" sz="54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9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References</a:t>
            </a:r>
            <a:endParaRPr lang="en-IN" sz="19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E7E0230-CEBA-8674-55B2-3B6E5AA911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0322898"/>
              </p:ext>
            </p:extLst>
          </p:nvPr>
        </p:nvGraphicFramePr>
        <p:xfrm>
          <a:off x="1219200" y="1828800"/>
          <a:ext cx="8458198" cy="45720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01495">
                  <a:extLst>
                    <a:ext uri="{9D8B030D-6E8A-4147-A177-3AD203B41FA5}">
                      <a16:colId xmlns:a16="http://schemas.microsoft.com/office/drawing/2014/main" val="3604193608"/>
                    </a:ext>
                  </a:extLst>
                </a:gridCol>
                <a:gridCol w="1287823">
                  <a:extLst>
                    <a:ext uri="{9D8B030D-6E8A-4147-A177-3AD203B41FA5}">
                      <a16:colId xmlns:a16="http://schemas.microsoft.com/office/drawing/2014/main" val="444103175"/>
                    </a:ext>
                  </a:extLst>
                </a:gridCol>
                <a:gridCol w="1157822">
                  <a:extLst>
                    <a:ext uri="{9D8B030D-6E8A-4147-A177-3AD203B41FA5}">
                      <a16:colId xmlns:a16="http://schemas.microsoft.com/office/drawing/2014/main" val="2003592206"/>
                    </a:ext>
                  </a:extLst>
                </a:gridCol>
                <a:gridCol w="1216730">
                  <a:extLst>
                    <a:ext uri="{9D8B030D-6E8A-4147-A177-3AD203B41FA5}">
                      <a16:colId xmlns:a16="http://schemas.microsoft.com/office/drawing/2014/main" val="3563485119"/>
                    </a:ext>
                  </a:extLst>
                </a:gridCol>
                <a:gridCol w="1141572">
                  <a:extLst>
                    <a:ext uri="{9D8B030D-6E8A-4147-A177-3AD203B41FA5}">
                      <a16:colId xmlns:a16="http://schemas.microsoft.com/office/drawing/2014/main" val="3750389061"/>
                    </a:ext>
                  </a:extLst>
                </a:gridCol>
                <a:gridCol w="1167978">
                  <a:extLst>
                    <a:ext uri="{9D8B030D-6E8A-4147-A177-3AD203B41FA5}">
                      <a16:colId xmlns:a16="http://schemas.microsoft.com/office/drawing/2014/main" val="863502217"/>
                    </a:ext>
                  </a:extLst>
                </a:gridCol>
                <a:gridCol w="1284778">
                  <a:extLst>
                    <a:ext uri="{9D8B030D-6E8A-4147-A177-3AD203B41FA5}">
                      <a16:colId xmlns:a16="http://schemas.microsoft.com/office/drawing/2014/main" val="2608848684"/>
                    </a:ext>
                  </a:extLst>
                </a:gridCol>
              </a:tblGrid>
              <a:tr h="725415">
                <a:tc>
                  <a:txBody>
                    <a:bodyPr/>
                    <a:lstStyle/>
                    <a:p>
                      <a:pPr marL="0" marR="2349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Ref. No </a:t>
                      </a:r>
                      <a:endParaRPr lang="en-US" sz="1100" kern="100">
                        <a:effectLst/>
                      </a:endParaRPr>
                    </a:p>
                    <a:p>
                      <a:pPr marL="0" marR="2540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[Year of </a:t>
                      </a:r>
                      <a:endParaRPr lang="en-US" sz="1100" kern="100">
                        <a:effectLst/>
                      </a:endParaRPr>
                    </a:p>
                    <a:p>
                      <a:pPr marL="0" marR="2413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Publication] 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Improvement Goal 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 anchor="ctr"/>
                </a:tc>
                <a:tc>
                  <a:txBody>
                    <a:bodyPr/>
                    <a:lstStyle/>
                    <a:p>
                      <a:pPr marL="0" marR="2794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Algorithm </a:t>
                      </a:r>
                      <a:endParaRPr lang="en-US" sz="11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 anchor="ctr"/>
                </a:tc>
                <a:tc>
                  <a:txBody>
                    <a:bodyPr/>
                    <a:lstStyle/>
                    <a:p>
                      <a:pPr marL="127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       Metric </a:t>
                      </a:r>
                      <a:endParaRPr lang="en-US" sz="1100" kern="100">
                        <a:effectLst/>
                      </a:endParaRPr>
                    </a:p>
                    <a:p>
                      <a:pPr marL="127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Used 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 anchor="ctr"/>
                </a:tc>
                <a:tc>
                  <a:txBody>
                    <a:bodyPr/>
                    <a:lstStyle/>
                    <a:p>
                      <a:pPr marL="2159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Topography 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Assessment Method 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 anchor="ctr"/>
                </a:tc>
                <a:tc>
                  <a:txBody>
                    <a:bodyPr/>
                    <a:lstStyle/>
                    <a:p>
                      <a:pPr marL="0" marR="2476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Usage 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 anchor="ctr"/>
                </a:tc>
                <a:extLst>
                  <a:ext uri="{0D108BD9-81ED-4DB2-BD59-A6C34878D82A}">
                    <a16:rowId xmlns:a16="http://schemas.microsoft.com/office/drawing/2014/main" val="4226987651"/>
                  </a:ext>
                </a:extLst>
              </a:tr>
              <a:tr h="464317">
                <a:tc>
                  <a:txBody>
                    <a:bodyPr/>
                    <a:lstStyle/>
                    <a:p>
                      <a:pPr marL="0" marR="2413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1 [2016] 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Digital India Framework 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Web-based framework 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 anchor="ctr"/>
                </a:tc>
                <a:tc>
                  <a:txBody>
                    <a:bodyPr/>
                    <a:lstStyle/>
                    <a:p>
                      <a:pPr marL="127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Citizen adoption 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 anchor="ctr"/>
                </a:tc>
                <a:tc>
                  <a:txBody>
                    <a:bodyPr/>
                    <a:lstStyle/>
                    <a:p>
                      <a:pPr marL="0" marR="2349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National 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 anchor="ctr"/>
                </a:tc>
                <a:tc>
                  <a:txBody>
                    <a:bodyPr/>
                    <a:lstStyle/>
                    <a:p>
                      <a:pPr marL="0" marR="2413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Surveys 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 anchor="ctr"/>
                </a:tc>
                <a:tc>
                  <a:txBody>
                    <a:bodyPr/>
                    <a:lstStyle/>
                    <a:p>
                      <a:pPr marL="0" marR="2222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General E-</a:t>
                      </a:r>
                      <a:endParaRPr lang="en-US" sz="1100" kern="100">
                        <a:effectLst/>
                      </a:endParaRPr>
                    </a:p>
                    <a:p>
                      <a:pPr marL="0" marR="2540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Governance 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 anchor="ctr"/>
                </a:tc>
                <a:extLst>
                  <a:ext uri="{0D108BD9-81ED-4DB2-BD59-A6C34878D82A}">
                    <a16:rowId xmlns:a16="http://schemas.microsoft.com/office/drawing/2014/main" val="2260036557"/>
                  </a:ext>
                </a:extLst>
              </a:tr>
              <a:tr h="461602">
                <a:tc>
                  <a:txBody>
                    <a:bodyPr/>
                    <a:lstStyle/>
                    <a:p>
                      <a:pPr marL="0" marR="2413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2 [2017] 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Digital India Framework 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 anchor="ctr"/>
                </a:tc>
                <a:tc>
                  <a:txBody>
                    <a:bodyPr/>
                    <a:lstStyle/>
                    <a:p>
                      <a:pPr marL="0" marR="2794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Web portal </a:t>
                      </a:r>
                      <a:endParaRPr lang="en-US" sz="11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 anchor="ctr"/>
                </a:tc>
                <a:tc>
                  <a:txBody>
                    <a:bodyPr/>
                    <a:lstStyle/>
                    <a:p>
                      <a:pPr marL="127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Student participation 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Education domain 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User feedback 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Scholarship schemes only 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 anchor="ctr"/>
                </a:tc>
                <a:extLst>
                  <a:ext uri="{0D108BD9-81ED-4DB2-BD59-A6C34878D82A}">
                    <a16:rowId xmlns:a16="http://schemas.microsoft.com/office/drawing/2014/main" val="224697653"/>
                  </a:ext>
                </a:extLst>
              </a:tr>
              <a:tr h="469318">
                <a:tc>
                  <a:txBody>
                    <a:bodyPr/>
                    <a:lstStyle/>
                    <a:p>
                      <a:pPr marL="0" marR="2222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3[2020] 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97000"/>
                        </a:lnSpc>
                        <a:spcAft>
                          <a:spcPts val="1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Unified citizen services </a:t>
                      </a:r>
                      <a:endParaRPr lang="en-US" sz="1100" kern="100">
                        <a:effectLst/>
                      </a:endParaRPr>
                    </a:p>
                    <a:p>
                      <a:pPr marL="0" marR="2413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(mobile) 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/>
                </a:tc>
                <a:tc>
                  <a:txBody>
                    <a:bodyPr/>
                    <a:lstStyle/>
                    <a:p>
                      <a:pPr marL="0" marR="2730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Mobile app 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 anchor="ctr"/>
                </a:tc>
                <a:tc>
                  <a:txBody>
                    <a:bodyPr/>
                    <a:lstStyle/>
                    <a:p>
                      <a:pPr marL="127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Usage frequency 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National utilities 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 anchor="ctr"/>
                </a:tc>
                <a:tc>
                  <a:txBody>
                    <a:bodyPr/>
                    <a:lstStyle/>
                    <a:p>
                      <a:pPr marL="0" marR="2540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Pilot project 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Bill payment, ID services 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 anchor="ctr"/>
                </a:tc>
                <a:extLst>
                  <a:ext uri="{0D108BD9-81ED-4DB2-BD59-A6C34878D82A}">
                    <a16:rowId xmlns:a16="http://schemas.microsoft.com/office/drawing/2014/main" val="3488906995"/>
                  </a:ext>
                </a:extLst>
              </a:tr>
              <a:tr h="496758">
                <a:tc>
                  <a:txBody>
                    <a:bodyPr/>
                    <a:lstStyle/>
                    <a:p>
                      <a:pPr marL="0" marR="2349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4 [2020] 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Challenges in centralized portals 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Cloud deployment 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 anchor="ctr"/>
                </a:tc>
                <a:tc>
                  <a:txBody>
                    <a:bodyPr/>
                    <a:lstStyle/>
                    <a:p>
                      <a:pPr marL="1270" marR="6985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System uptime 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 anchor="ctr"/>
                </a:tc>
                <a:tc>
                  <a:txBody>
                    <a:bodyPr/>
                    <a:lstStyle/>
                    <a:p>
                      <a:pPr marL="0" marR="698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Crossdomain 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 anchor="ctr"/>
                </a:tc>
                <a:tc>
                  <a:txBody>
                    <a:bodyPr/>
                    <a:lstStyle/>
                    <a:p>
                      <a:pPr marL="0" marR="2222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Simulation 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E-governance services 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 anchor="ctr"/>
                </a:tc>
                <a:extLst>
                  <a:ext uri="{0D108BD9-81ED-4DB2-BD59-A6C34878D82A}">
                    <a16:rowId xmlns:a16="http://schemas.microsoft.com/office/drawing/2014/main" val="2832141152"/>
                  </a:ext>
                </a:extLst>
              </a:tr>
              <a:tr h="496758">
                <a:tc>
                  <a:txBody>
                    <a:bodyPr/>
                    <a:lstStyle/>
                    <a:p>
                      <a:pPr marL="0" marR="2349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5 [2021] 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 anchor="ctr"/>
                </a:tc>
                <a:tc>
                  <a:txBody>
                    <a:bodyPr/>
                    <a:lstStyle/>
                    <a:p>
                      <a:pPr marL="0" marR="0" indent="889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Agile development in web portals 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Agile methodology 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 anchor="ctr"/>
                </a:tc>
                <a:tc>
                  <a:txBody>
                    <a:bodyPr/>
                    <a:lstStyle/>
                    <a:p>
                      <a:pPr marL="127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Development speed 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Software projects 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Comparative analysis 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Project methodology 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 anchor="ctr"/>
                </a:tc>
                <a:extLst>
                  <a:ext uri="{0D108BD9-81ED-4DB2-BD59-A6C34878D82A}">
                    <a16:rowId xmlns:a16="http://schemas.microsoft.com/office/drawing/2014/main" val="2824978468"/>
                  </a:ext>
                </a:extLst>
              </a:tr>
              <a:tr h="496758">
                <a:tc>
                  <a:txBody>
                    <a:bodyPr/>
                    <a:lstStyle/>
                    <a:p>
                      <a:pPr marL="0" marR="2349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6 [2022] 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 anchor="ctr"/>
                </a:tc>
                <a:tc>
                  <a:txBody>
                    <a:bodyPr/>
                    <a:lstStyle/>
                    <a:p>
                      <a:pPr marL="10795" marR="1333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Framework for smart governance 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Architectural model 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 anchor="ctr"/>
                </a:tc>
                <a:tc>
                  <a:txBody>
                    <a:bodyPr/>
                    <a:lstStyle/>
                    <a:p>
                      <a:pPr marL="127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Scalability 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 anchor="ctr"/>
                </a:tc>
                <a:tc>
                  <a:txBody>
                    <a:bodyPr/>
                    <a:lstStyle/>
                    <a:p>
                      <a:pPr marL="3175" marR="317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National level 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Theoretical framework 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 anchor="ctr"/>
                </a:tc>
                <a:tc>
                  <a:txBody>
                    <a:bodyPr/>
                    <a:lstStyle/>
                    <a:p>
                      <a:pPr marL="0" marR="0" indent="571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Smart governance platforms 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/>
                </a:tc>
                <a:extLst>
                  <a:ext uri="{0D108BD9-81ED-4DB2-BD59-A6C34878D82A}">
                    <a16:rowId xmlns:a16="http://schemas.microsoft.com/office/drawing/2014/main" val="1183907977"/>
                  </a:ext>
                </a:extLst>
              </a:tr>
              <a:tr h="464317">
                <a:tc>
                  <a:txBody>
                    <a:bodyPr/>
                    <a:lstStyle/>
                    <a:p>
                      <a:pPr marL="0" marR="2349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7 [2023] 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99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AI-based citizen </a:t>
                      </a:r>
                      <a:endParaRPr lang="en-US" sz="1100" kern="100">
                        <a:effectLst/>
                      </a:endParaRPr>
                    </a:p>
                    <a:p>
                      <a:pPr marL="127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personalization 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/>
                </a:tc>
                <a:tc>
                  <a:txBody>
                    <a:bodyPr/>
                    <a:lstStyle/>
                    <a:p>
                      <a:pPr marL="0" marR="2794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NLP, ML </a:t>
                      </a:r>
                      <a:endParaRPr lang="en-US" sz="1100" kern="100">
                        <a:effectLst/>
                      </a:endParaRPr>
                    </a:p>
                    <a:p>
                      <a:pPr marL="0" marR="2603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algorithms 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 anchor="ctr"/>
                </a:tc>
                <a:tc>
                  <a:txBody>
                    <a:bodyPr/>
                    <a:lstStyle/>
                    <a:p>
                      <a:pPr marL="127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Search efficiency 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Citizen portals 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Experimental testing 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AI-driven personalization 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 anchor="ctr"/>
                </a:tc>
                <a:extLst>
                  <a:ext uri="{0D108BD9-81ED-4DB2-BD59-A6C34878D82A}">
                    <a16:rowId xmlns:a16="http://schemas.microsoft.com/office/drawing/2014/main" val="2224514356"/>
                  </a:ext>
                </a:extLst>
              </a:tr>
              <a:tr h="496758">
                <a:tc>
                  <a:txBody>
                    <a:bodyPr/>
                    <a:lstStyle/>
                    <a:p>
                      <a:pPr marL="0" marR="2349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8 [2024] 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 anchor="ctr"/>
                </a:tc>
                <a:tc>
                  <a:txBody>
                    <a:bodyPr/>
                    <a:lstStyle/>
                    <a:p>
                      <a:pPr marL="0" marR="0" indent="63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National service portals comparison 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Comparative analysis 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 anchor="ctr"/>
                </a:tc>
                <a:tc>
                  <a:txBody>
                    <a:bodyPr/>
                    <a:lstStyle/>
                    <a:p>
                      <a:pPr marL="127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Citizen participation 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 anchor="ctr"/>
                </a:tc>
                <a:tc>
                  <a:txBody>
                    <a:bodyPr/>
                    <a:lstStyle/>
                    <a:p>
                      <a:pPr marL="127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International 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 anchor="ctr"/>
                </a:tc>
                <a:tc>
                  <a:txBody>
                    <a:bodyPr/>
                    <a:lstStyle/>
                    <a:p>
                      <a:pPr marL="0" marR="2413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Case studies 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Generalized portal studies </a:t>
                      </a:r>
                      <a:endParaRPr lang="en-US" sz="11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0" marR="43180" marT="55880" marB="0" anchor="ctr"/>
                </a:tc>
                <a:extLst>
                  <a:ext uri="{0D108BD9-81ED-4DB2-BD59-A6C34878D82A}">
                    <a16:rowId xmlns:a16="http://schemas.microsoft.com/office/drawing/2014/main" val="12360937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7144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539</TotalTime>
  <Words>788</Words>
  <Application>Microsoft Office PowerPoint</Application>
  <PresentationFormat>Custom</PresentationFormat>
  <Paragraphs>231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Times New Roman</vt:lpstr>
      <vt:lpstr>Times New Roman Bold</vt:lpstr>
      <vt:lpstr>Office Theme</vt:lpstr>
      <vt:lpstr>Smt. Kashibai Navale College Of Engineering Department of Information Technology</vt:lpstr>
      <vt:lpstr>  Contents</vt:lpstr>
      <vt:lpstr>Problem Statement of Project</vt:lpstr>
      <vt:lpstr> System Architecture   </vt:lpstr>
      <vt:lpstr> System Architecture   </vt:lpstr>
      <vt:lpstr> Literature Survey</vt:lpstr>
      <vt:lpstr>     Requirement Analysis   </vt:lpstr>
      <vt:lpstr> Methodologies</vt:lpstr>
      <vt:lpstr> Project Design </vt:lpstr>
      <vt:lpstr> Project Design  </vt:lpstr>
      <vt:lpstr>  Project Design   </vt:lpstr>
      <vt:lpstr>  Project Design   </vt:lpstr>
      <vt:lpstr>  Project Planning   </vt:lpstr>
      <vt:lpstr>   Conclusion    </vt:lpstr>
      <vt:lpstr> </vt:lpstr>
    </vt:vector>
  </TitlesOfParts>
  <Manager>Nilesh Uke</Manager>
  <Company>PCCOE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PCCoE</dc:title>
  <dc:creator>NJUke</dc:creator>
  <cp:lastModifiedBy>yash chaskar</cp:lastModifiedBy>
  <cp:revision>10</cp:revision>
  <dcterms:created xsi:type="dcterms:W3CDTF">2006-08-15T13:00:00Z</dcterms:created>
  <dcterms:modified xsi:type="dcterms:W3CDTF">2025-11-11T19:22:25Z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a7beeb60671c4fd0a431972bbecc5b96</vt:lpwstr>
  </property>
</Properties>
</file>